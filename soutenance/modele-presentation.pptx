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jury lit cette présentation avant la soutenance, sans vous : chaque diapositive doit se comprendre seule. Tout ce qui est entre crochets est à écrire par vous.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micro-CV par membre, rempli par lui-même. Trinôme : ajoutez une carte. Photo facultative. Ni adresse, ni téléphone, ni date de naissance.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Racontez le service rendu, pas le code. Les cartes racontent l’incident étape par étape : la première est donnée en exemple.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premier maillon, fourni, est donné en exemple. Complétez les autres avec votre architecture, ou remplacez le schéma par le vôtre.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jury évalue l’ensemble du cursus. Pour chaque module : où il apparaît dans votre projet, et une preuve que vous pouvez montrer (un fichier, une commande, un test, une capture). La première ligne est donnée en exemple.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ligne par étape de votre démonstration : ce que vous faites, ce que le jury doit voir. La première est donnée en exemple. Ajoutez ou retirez des lignes.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gauche, ce que fait votre pilote (le premier point est donné en exemple). À droite, un choix qui vous est propre, sa raison, et la preuve que ça marche.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haut, le trajet d’une mesure dans votre passerelle : la première étape est donnée en exemple, ajoutez ou retirez des cases. À gauche, les notions de C++ que vous avez mises en œuvre, avec ce qu’elles apportent.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ligne par type de message MQTT : est-il conservé par le broker, et pourquoi. La première ligne est donnée en exemple.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étapes qui mènent votre logiciel sur la carte : la première est donnée en exemple. En bas, une vraie trace de votre carte, ou une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chiffres relevés sur votre dépôt, que vous pouvez refaire devant le jury. Le premier est donné en exemple. Supprimez une case plutôt que de la laisser 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Vos jalons, votre façon de travailler à deux (ou à trois), et qui a porté quoi. Le premier élément de chaque bloc est donné en exemple.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vrais problèmes, datés dans votre JOURNAL.md, racontés en trois temps : ce que vous avez vu, comment vous avez cherché, ce que vous avez corrigé.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Vos extensions et ce qu’elles apportent à l’opérateur ; ce qui ne marche pas encore, honnêtement ; ce que vous feriez ensuite pour un vrai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par membre, sincère et concrète, dite par lui-même. Trinôme : ajoutez une colonne.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542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17702"/>
            <a:ext cx="10566400" cy="4127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542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17702"/>
            <a:ext cx="10566400" cy="4127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7FC4E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PROJET FINAL · POEI LLS EXPLEO · AJC FORMATION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14120"/>
            <a:ext cx="108833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i="0" dirty="0">
                <a:solidFill>
                  <a:srgbClr val="EE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812800" y="2319020"/>
            <a:ext cx="850265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fait EmbedGate, et pour qui, en une phrase]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5328920"/>
            <a:ext cx="29318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Groupe [N]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760720"/>
            <a:ext cx="34157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[Prénom NOM] · [Prénom NOM]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26656" y="579628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CCAD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Soutenance · lundi 26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L’ÉQUIPE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[Un titre qui présente votre équipe]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66900"/>
            <a:ext cx="5181600" cy="3975100"/>
          </a:xfrm>
          <a:prstGeom prst="roundRect">
            <a:avLst>
              <a:gd name="adj" fmla="val 191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66900"/>
            <a:ext cx="5181600" cy="3975100"/>
          </a:xfrm>
          <a:custGeom>
            <a:avLst/>
            <a:gdLst/>
            <a:ahLst/>
            <a:cxnLst/>
            <a:rect l="l" t="t" r="r" b="b"/>
            <a:pathLst>
              <a:path w="5181600" h="39751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05400" y="0"/>
                </a:lnTo>
                <a:arcTo hR="76200" wR="76200" stAng="16200000" swAng="5400000"/>
                <a:lnTo>
                  <a:pt x="51816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80260"/>
            <a:ext cx="491845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[Prénom NOM]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2453640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Avant la formation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2692400"/>
            <a:ext cx="491845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6000" y="302958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Dans EmbedGate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3268345"/>
            <a:ext cx="491845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[ex. : le pilote C et la carte ARM]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6000" y="3605530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Mes points forts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6000" y="3844290"/>
            <a:ext cx="491845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16000" y="418147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Je vise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6000" y="4420235"/>
            <a:ext cx="491845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7600" y="1866900"/>
            <a:ext cx="5181600" cy="3975100"/>
          </a:xfrm>
          <a:prstGeom prst="roundRect">
            <a:avLst>
              <a:gd name="adj" fmla="val 191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7600" y="1866900"/>
            <a:ext cx="5181600" cy="3975100"/>
          </a:xfrm>
          <a:custGeom>
            <a:avLst/>
            <a:gdLst/>
            <a:ahLst/>
            <a:cxnLst/>
            <a:rect l="l" t="t" r="r" b="b"/>
            <a:pathLst>
              <a:path w="5181600" h="39751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05400" y="0"/>
                </a:lnTo>
                <a:arcTo hR="76200" wR="76200" stAng="16200000" swAng="5400000"/>
                <a:lnTo>
                  <a:pt x="51816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80260"/>
            <a:ext cx="491845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[Prénom NOM]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2453640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Avant la formation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692400"/>
            <a:ext cx="491845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02958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Dans EmbedGate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268345"/>
            <a:ext cx="491845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605530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Mes points forts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844290"/>
            <a:ext cx="491845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18147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Je vise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420235"/>
            <a:ext cx="491845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1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LE BESOIN DU CLIENT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[Le problème du client, en une phrase]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0875"/>
            <a:ext cx="2520950" cy="135763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25980"/>
            <a:ext cx="21740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 °C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1080" y="2593341"/>
            <a:ext cx="217406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 va bien. Le tableau de bord est vert.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5675" y="1920875"/>
            <a:ext cx="2520950" cy="135763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2125980"/>
            <a:ext cx="21740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[…]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00780" y="2593341"/>
            <a:ext cx="217406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5375" y="1920875"/>
            <a:ext cx="2520950" cy="135763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2125980"/>
            <a:ext cx="21740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[…]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80480" y="2593341"/>
            <a:ext cx="217406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55075" y="1920875"/>
            <a:ext cx="2520950" cy="135763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2125980"/>
            <a:ext cx="21740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[…]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60180" y="2593341"/>
            <a:ext cx="217406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3586480"/>
            <a:ext cx="10566400" cy="1175385"/>
          </a:xfrm>
          <a:prstGeom prst="roundRect">
            <a:avLst>
              <a:gd name="adj" fmla="val 6483"/>
            </a:avLst>
          </a:prstGeom>
          <a:solidFill>
            <a:srgbClr val="13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" y="3840480"/>
            <a:ext cx="10255504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[Sans EmbedGate : ce qui arrive au client]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7600" y="4250691"/>
            <a:ext cx="1025550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[Avec EmbedGate : ce qu’il gagne]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1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LA SOLUTION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[L’architecture, en une phrase]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73250"/>
            <a:ext cx="1742916" cy="1727200"/>
          </a:xfrm>
          <a:prstGeom prst="roundRect">
            <a:avLst>
              <a:gd name="adj" fmla="val 4044"/>
            </a:avLst>
          </a:prstGeom>
          <a:solidFill>
            <a:srgbClr val="E9ECE6"/>
          </a:solidFill>
          <a:ln w="12700">
            <a:solidFill>
              <a:srgbClr val="8A97A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5360" y="2029461"/>
            <a:ext cx="14812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36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fournie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" y="2306320"/>
            <a:ext cx="148129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Puce capteur simulée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5360" y="2827020"/>
            <a:ext cx="1481296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Registres, interruptions, scénarios de panne</a:t>
            </a:r>
            <a:endParaRPr lang="en-US" sz="1200" dirty="0"/>
          </a:p>
        </p:txBody>
      </p:sp>
      <p:pic>
        <p:nvPicPr>
          <p:cNvPr id="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44616" y="1866900"/>
            <a:ext cx="3048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8791" y="1870075"/>
            <a:ext cx="1739186" cy="1733550"/>
          </a:xfrm>
          <a:prstGeom prst="roundRect">
            <a:avLst>
              <a:gd name="adj" fmla="val 4212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3096" y="2024380"/>
            <a:ext cx="14813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[langage]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83096" y="2301241"/>
            <a:ext cx="148137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[maillon]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183096" y="2593341"/>
            <a:ext cx="148137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[son rôle]</a:t>
            </a:r>
            <a:endParaRPr lang="en-US" sz="1200" dirty="0"/>
          </a:p>
        </p:txBody>
      </p:sp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7352" y="1866900"/>
            <a:ext cx="3048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31527" y="1870075"/>
            <a:ext cx="1739106" cy="1733550"/>
          </a:xfrm>
          <a:prstGeom prst="roundRect">
            <a:avLst>
              <a:gd name="adj" fmla="val 4212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85832" y="2024380"/>
            <a:ext cx="14812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[langage]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85832" y="2301241"/>
            <a:ext cx="14812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[maillon]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85832" y="2593341"/>
            <a:ext cx="148129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[son rôle]</a:t>
            </a:r>
            <a:endParaRPr lang="en-US" sz="1200" dirty="0"/>
          </a:p>
        </p:txBody>
      </p:sp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0008" y="1866900"/>
            <a:ext cx="304800" cy="101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34183" y="1870075"/>
            <a:ext cx="1739186" cy="1733550"/>
          </a:xfrm>
          <a:prstGeom prst="roundRect">
            <a:avLst>
              <a:gd name="adj" fmla="val 4212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88488" y="2024380"/>
            <a:ext cx="14813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[langage]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588488" y="2301241"/>
            <a:ext cx="148137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[maillon]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588488" y="2593341"/>
            <a:ext cx="148137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[son rôle]</a:t>
            </a:r>
            <a:endParaRPr lang="en-US" sz="1200" dirty="0"/>
          </a:p>
        </p:txBody>
      </p:sp>
      <p:pic>
        <p:nvPicPr>
          <p:cNvPr id="2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2744" y="1866900"/>
            <a:ext cx="304800" cy="101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36919" y="1870075"/>
            <a:ext cx="1739106" cy="1733550"/>
          </a:xfrm>
          <a:prstGeom prst="roundRect">
            <a:avLst>
              <a:gd name="adj" fmla="val 4212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791224" y="2024380"/>
            <a:ext cx="14812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[langage]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791224" y="2301241"/>
            <a:ext cx="14812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[maillon]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791224" y="2593341"/>
            <a:ext cx="148129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[son rôle]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12800" y="3860800"/>
            <a:ext cx="10566400" cy="655320"/>
          </a:xfrm>
          <a:prstGeom prst="roundRect">
            <a:avLst>
              <a:gd name="adj" fmla="val 11628"/>
            </a:avLst>
          </a:prstGeom>
          <a:solidFill>
            <a:srgbClr val="13233A"/>
          </a:solidFill>
          <a:ln/>
        </p:spPr>
      </p:sp>
      <p:sp>
        <p:nvSpPr>
          <p:cNvPr id="29" name="Text 23"/>
          <p:cNvSpPr/>
          <p:nvPr/>
        </p:nvSpPr>
        <p:spPr>
          <a:xfrm>
            <a:off x="1066800" y="4064000"/>
            <a:ext cx="1010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Carte ARM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2230120" y="4064000"/>
            <a:ext cx="4956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qui tourne sur la carte, et comment le PC la voit]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12800" y="477012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[Un choix d’architecture qui vous est propre, en une ligne]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LE CURSUS DANS NOTRE PROJET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le cursus a apporté au projet, en une phrase]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97049"/>
          <a:ext cx="10556240" cy="3845560"/>
        </p:xfrm>
        <a:graphic>
          <a:graphicData uri="http://schemas.openxmlformats.org/drawingml/2006/table">
            <a:tbl>
              <a:tblPr/>
              <a:tblGrid>
                <a:gridCol w="3272434"/>
                <a:gridCol w="4750308"/>
                <a:gridCol w="2533498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Modules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Où, dans EmbedGate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Notre preuve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Commandes Linux, Shell, Administration et Architecture Linux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demo.sh, lecture du journal, signaux et arrêt propre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demo.sh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Programmation C, Projet 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Temps réel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C++, Modern C++ 11, Projet C++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Python, Dev. open source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Tests unitaires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Debug, Trace32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Linux embarqué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Algorithmie, Consultant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DÉMONSTRATION EN DIRECT · [N] MIN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9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vous allez voir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7060"/>
          <a:ext cx="10556240" cy="2684780"/>
        </p:xfrm>
        <a:graphic>
          <a:graphicData uri="http://schemas.openxmlformats.org/drawingml/2006/table">
            <a:tbl>
              <a:tblPr/>
              <a:tblGrid>
                <a:gridCol w="633374"/>
                <a:gridCol w="4644746"/>
                <a:gridCol w="527812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Nous faisons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Vous devez voir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Lancer la puce, la passerelle, le superviseur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Mesures à jour, état « en ligne »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MAILLON 1 · LE PILOTE C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9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fait le pilote, en une phrase]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3920" y="1866900"/>
            <a:ext cx="597408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Registres projetés en mémoire (mmap), lus par pointeur volatile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7303" y="1870075"/>
            <a:ext cx="4378722" cy="3968750"/>
          </a:xfrm>
          <a:prstGeom prst="roundRect">
            <a:avLst>
              <a:gd name="adj" fmla="val 1840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7808" y="2100582"/>
            <a:ext cx="40352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 choix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7808" y="2471421"/>
            <a:ext cx="4035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7808" y="2847339"/>
            <a:ext cx="40352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7808" y="3218182"/>
            <a:ext cx="4035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MAILLON 2 · LA PASSERELLE C++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9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fait la passerelle, en une phrase]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870075"/>
            <a:ext cx="2330450" cy="488950"/>
          </a:xfrm>
          <a:prstGeom prst="roundRect">
            <a:avLst>
              <a:gd name="adj" fmla="val 12338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  <p:txBody>
          <a:bodyPr wrap="square" lIns="80147" tIns="111236" rIns="80147" bIns="85836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Thread de collecte</a:t>
            </a:r>
            <a:endParaRPr lang="en-US" sz="1300" dirty="0"/>
          </a:p>
        </p:txBody>
      </p:sp>
      <p:pic>
        <p:nvPicPr>
          <p:cNvPr id="5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25800" y="2063750"/>
            <a:ext cx="254000" cy="10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59175" y="1870075"/>
            <a:ext cx="2330450" cy="488950"/>
          </a:xfrm>
          <a:prstGeom prst="roundRect">
            <a:avLst>
              <a:gd name="adj" fmla="val 12338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  <p:txBody>
          <a:bodyPr wrap="square" lIns="80147" tIns="111236" rIns="80147" bIns="85836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pic>
        <p:nvPicPr>
          <p:cNvPr id="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063750"/>
            <a:ext cx="254000" cy="10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2375" y="1870075"/>
            <a:ext cx="2330450" cy="488950"/>
          </a:xfrm>
          <a:prstGeom prst="roundRect">
            <a:avLst>
              <a:gd name="adj" fmla="val 12338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  <p:txBody>
          <a:bodyPr wrap="square" lIns="80147" tIns="111236" rIns="80147" bIns="85836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pic>
        <p:nvPicPr>
          <p:cNvPr id="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2200" y="2063750"/>
            <a:ext cx="254000" cy="101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45575" y="1870075"/>
            <a:ext cx="2330450" cy="488950"/>
          </a:xfrm>
          <a:prstGeom prst="roundRect">
            <a:avLst>
              <a:gd name="adj" fmla="val 12338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  <p:txBody>
          <a:bodyPr wrap="square" lIns="80147" tIns="111236" rIns="80147" bIns="85836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91032" y="2616200"/>
            <a:ext cx="599836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RAII</a:t>
            </a:r>
            <a:r>
              <a:rPr lang="en-US" sz="14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chaque ressource est libérée par son destructeur, aucun delete à la main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[notion] : […]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[notion] : […]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[notion] : […]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027783" y="2619375"/>
            <a:ext cx="4348242" cy="3219450"/>
          </a:xfrm>
          <a:prstGeom prst="roundRect">
            <a:avLst>
              <a:gd name="adj" fmla="val 2268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232888" y="2824482"/>
            <a:ext cx="405617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 choix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232888" y="3169921"/>
            <a:ext cx="405617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232888" y="3502661"/>
            <a:ext cx="405617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232888" y="3848100"/>
            <a:ext cx="405617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MAILLON 3 · PYTHON ET MQTT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voit et fait l’opérateur, en une phrase]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7060"/>
          <a:ext cx="5896848" cy="1784350"/>
        </p:xfrm>
        <a:graphic>
          <a:graphicData uri="http://schemas.openxmlformats.org/drawingml/2006/table">
            <a:tbl>
              <a:tblPr/>
              <a:tblGrid>
                <a:gridCol w="1769054"/>
                <a:gridCol w="1297307"/>
                <a:gridCol w="2830487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Message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Conservé 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Pourquoi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mesure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 suivante arrive aussitôt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763014"/>
            <a:ext cx="608421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[Les commandes, et ce qui arrive à une commande invalide]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027783" y="1870075"/>
            <a:ext cx="4348242" cy="3968750"/>
          </a:xfrm>
          <a:prstGeom prst="roundRect">
            <a:avLst>
              <a:gd name="adj" fmla="val 1840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32888" y="2075179"/>
            <a:ext cx="405617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 choix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32888" y="2420621"/>
            <a:ext cx="405617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32888" y="2753364"/>
            <a:ext cx="405617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32888" y="3098800"/>
            <a:ext cx="405617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MAILLON 4 · LINUX EMBARQUÉ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change la carte ARM, en une phrase]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0075"/>
            <a:ext cx="2520950" cy="178943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49779"/>
            <a:ext cx="22263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5680" y="2481579"/>
            <a:ext cx="2226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Compiler en croisé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5680" y="2786379"/>
            <a:ext cx="22263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 le PC, pour ARM : CMake et la chaîne arm-linux-gnueabihf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5675" y="1870075"/>
            <a:ext cx="2520950" cy="178943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380" y="2049779"/>
            <a:ext cx="22263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75380" y="2481579"/>
            <a:ext cx="2226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[étape]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380" y="278637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375" y="1870075"/>
            <a:ext cx="2520950" cy="178943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49779"/>
            <a:ext cx="22263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2481579"/>
            <a:ext cx="2226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[étape]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78637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5075" y="1870075"/>
            <a:ext cx="2520950" cy="178943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780" y="2049779"/>
            <a:ext cx="22263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34780" y="2481579"/>
            <a:ext cx="2226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[étape]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34780" y="278637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916679"/>
            <a:ext cx="6110208" cy="1925320"/>
          </a:xfrm>
          <a:prstGeom prst="roundRect">
            <a:avLst>
              <a:gd name="adj" fmla="val 3958"/>
            </a:avLst>
          </a:prstGeom>
          <a:solidFill>
            <a:srgbClr val="13233A"/>
          </a:solidFill>
          <a:ln/>
        </p:spPr>
        <p:txBody>
          <a:bodyPr wrap="square" lIns="231682" tIns="180882" rIns="63616" bIns="18088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[Une commande et sa sortie réelle, copiées de votre terminal]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30983" y="3919854"/>
            <a:ext cx="4145042" cy="1918970"/>
          </a:xfrm>
          <a:prstGeom prst="roundRect">
            <a:avLst>
              <a:gd name="adj" fmla="val 3805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6088" y="4124964"/>
            <a:ext cx="384687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36088" y="4470400"/>
            <a:ext cx="38468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QUALITÉ · TESTS ET DÉBOGAGE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vos mesures prouvent, en une phrase]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17700"/>
            <a:ext cx="3420507" cy="1419860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95500"/>
            <a:ext cx="31045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[N]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16000" y="2679700"/>
            <a:ext cx="310453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automatiques, C, C++ et Python, tous verts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5707" y="1917700"/>
            <a:ext cx="3420507" cy="1419860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88907" y="2095500"/>
            <a:ext cx="31045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[…]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88907" y="2679700"/>
            <a:ext cx="3104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ce chiffre mesure]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8614" y="1917700"/>
            <a:ext cx="3420507" cy="1419860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14" y="2095500"/>
            <a:ext cx="31045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[…]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61814" y="2679700"/>
            <a:ext cx="3104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ce chiffre mesure]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489964"/>
            <a:ext cx="3420507" cy="1179830"/>
          </a:xfrm>
          <a:prstGeom prst="roundRect">
            <a:avLst>
              <a:gd name="adj" fmla="val 645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667764"/>
            <a:ext cx="31045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[…]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16000" y="4251964"/>
            <a:ext cx="3104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ce chiffre mesure]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5707" y="3489964"/>
            <a:ext cx="3420507" cy="1179830"/>
          </a:xfrm>
          <a:prstGeom prst="roundRect">
            <a:avLst>
              <a:gd name="adj" fmla="val 645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907" y="3667764"/>
            <a:ext cx="31045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[…]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88907" y="4251964"/>
            <a:ext cx="3104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ce chiffre mesure]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8614" y="3489964"/>
            <a:ext cx="3420507" cy="1179830"/>
          </a:xfrm>
          <a:prstGeom prst="roundRect">
            <a:avLst>
              <a:gd name="adj" fmla="val 645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161814" y="3667764"/>
            <a:ext cx="31045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B04A1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[…]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61814" y="4251964"/>
            <a:ext cx="3104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[ce que ce chiffre mesure]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497459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[Un bug trouvé par un outil : lequel, avec quel outil, comment corrigé]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MÉTHODE · GIT ET ORGANISATION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[Comment vous avez travaillé, en une phrase]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66900"/>
            <a:ext cx="1718707" cy="599440"/>
          </a:xfrm>
          <a:custGeom>
            <a:avLst/>
            <a:gdLst/>
            <a:ahLst/>
            <a:cxnLst/>
            <a:rect l="l" t="t" r="r" b="b"/>
            <a:pathLst>
              <a:path w="1718707" h="599440">
                <a:moveTo>
                  <a:pt x="50800" y="0"/>
                </a:moveTo>
                <a:lnTo>
                  <a:pt x="1667907" y="0"/>
                </a:lnTo>
                <a:arcTo hR="50800" wR="50800" stAng="16200000" swAng="5400000"/>
                <a:lnTo>
                  <a:pt x="1718707" y="548640"/>
                </a:lnTo>
                <a:arcTo hR="50800" wR="50800" stAng="0" swAng="5400000"/>
                <a:lnTo>
                  <a:pt x="50800" y="5994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DCE9F3"/>
          </a:solidFill>
          <a:ln/>
        </p:spPr>
        <p:txBody>
          <a:bodyPr wrap="square" lIns="25400" tIns="101600" rIns="25400" bIns="7620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v0.1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pilote 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82307" y="1866900"/>
            <a:ext cx="1718786" cy="599440"/>
          </a:xfrm>
          <a:custGeom>
            <a:avLst/>
            <a:gdLst/>
            <a:ahLst/>
            <a:cxnLst/>
            <a:rect l="l" t="t" r="r" b="b"/>
            <a:pathLst>
              <a:path w="1718786" h="599440">
                <a:moveTo>
                  <a:pt x="50800" y="0"/>
                </a:moveTo>
                <a:lnTo>
                  <a:pt x="1667986" y="0"/>
                </a:lnTo>
                <a:arcTo hR="50800" wR="50800" stAng="16200000" swAng="5400000"/>
                <a:lnTo>
                  <a:pt x="1718786" y="548640"/>
                </a:lnTo>
                <a:arcTo hR="50800" wR="50800" stAng="0" swAng="5400000"/>
                <a:lnTo>
                  <a:pt x="50800" y="5994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DCE9F3"/>
          </a:solidFill>
          <a:ln/>
        </p:spPr>
        <p:txBody>
          <a:bodyPr wrap="square" lIns="25400" tIns="101600" rIns="25400" bIns="7620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v0.2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51893" y="1866900"/>
            <a:ext cx="1718707" cy="599440"/>
          </a:xfrm>
          <a:custGeom>
            <a:avLst/>
            <a:gdLst/>
            <a:ahLst/>
            <a:cxnLst/>
            <a:rect l="l" t="t" r="r" b="b"/>
            <a:pathLst>
              <a:path w="1718707" h="599440">
                <a:moveTo>
                  <a:pt x="50800" y="0"/>
                </a:moveTo>
                <a:lnTo>
                  <a:pt x="1667907" y="0"/>
                </a:lnTo>
                <a:arcTo hR="50800" wR="50800" stAng="16200000" swAng="5400000"/>
                <a:lnTo>
                  <a:pt x="1718707" y="548640"/>
                </a:lnTo>
                <a:arcTo hR="50800" wR="50800" stAng="0" swAng="5400000"/>
                <a:lnTo>
                  <a:pt x="50800" y="5994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DCE9F3"/>
          </a:solidFill>
          <a:ln/>
        </p:spPr>
        <p:txBody>
          <a:bodyPr wrap="square" lIns="25400" tIns="101600" rIns="25400" bIns="7620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v0.3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1400" y="1866900"/>
            <a:ext cx="1718786" cy="599440"/>
          </a:xfrm>
          <a:custGeom>
            <a:avLst/>
            <a:gdLst/>
            <a:ahLst/>
            <a:cxnLst/>
            <a:rect l="l" t="t" r="r" b="b"/>
            <a:pathLst>
              <a:path w="1718786" h="599440">
                <a:moveTo>
                  <a:pt x="50800" y="0"/>
                </a:moveTo>
                <a:lnTo>
                  <a:pt x="1667986" y="0"/>
                </a:lnTo>
                <a:arcTo hR="50800" wR="50800" stAng="16200000" swAng="5400000"/>
                <a:lnTo>
                  <a:pt x="1718786" y="548640"/>
                </a:lnTo>
                <a:arcTo hR="50800" wR="50800" stAng="0" swAng="5400000"/>
                <a:lnTo>
                  <a:pt x="50800" y="5994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DCE9F3"/>
          </a:solidFill>
          <a:ln/>
        </p:spPr>
        <p:txBody>
          <a:bodyPr wrap="square" lIns="25400" tIns="101600" rIns="25400" bIns="7620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v0.4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90987" y="1866900"/>
            <a:ext cx="1718707" cy="599440"/>
          </a:xfrm>
          <a:custGeom>
            <a:avLst/>
            <a:gdLst/>
            <a:ahLst/>
            <a:cxnLst/>
            <a:rect l="l" t="t" r="r" b="b"/>
            <a:pathLst>
              <a:path w="1718707" h="599440">
                <a:moveTo>
                  <a:pt x="50800" y="0"/>
                </a:moveTo>
                <a:lnTo>
                  <a:pt x="1667907" y="0"/>
                </a:lnTo>
                <a:arcTo hR="50800" wR="50800" stAng="16200000" swAng="5400000"/>
                <a:lnTo>
                  <a:pt x="1718707" y="548640"/>
                </a:lnTo>
                <a:arcTo hR="50800" wR="50800" stAng="0" swAng="5400000"/>
                <a:lnTo>
                  <a:pt x="50800" y="5994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DCE9F3"/>
          </a:solidFill>
          <a:ln/>
        </p:spPr>
        <p:txBody>
          <a:bodyPr wrap="square" lIns="25400" tIns="101600" rIns="25400" bIns="7620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v0.5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60493" y="1866900"/>
            <a:ext cx="1718707" cy="599440"/>
          </a:xfrm>
          <a:custGeom>
            <a:avLst/>
            <a:gdLst/>
            <a:ahLst/>
            <a:cxnLst/>
            <a:rect l="l" t="t" r="r" b="b"/>
            <a:pathLst>
              <a:path w="1718707" h="599440">
                <a:moveTo>
                  <a:pt x="50800" y="0"/>
                </a:moveTo>
                <a:lnTo>
                  <a:pt x="1667907" y="0"/>
                </a:lnTo>
                <a:arcTo hR="50800" wR="50800" stAng="16200000" swAng="5400000"/>
                <a:lnTo>
                  <a:pt x="1718707" y="548640"/>
                </a:lnTo>
                <a:arcTo hR="50800" wR="50800" stAng="0" swAng="5400000"/>
                <a:lnTo>
                  <a:pt x="50800" y="5994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25400" tIns="101600" rIns="25400" bIns="7620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E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v1.0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2720342"/>
            <a:ext cx="507019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 nous avons travaillé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1032" y="3065779"/>
            <a:ext cx="4984344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branche par fonctionnalité, main compile toujours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43295" y="2723517"/>
            <a:ext cx="5332730" cy="311531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8400" y="2928621"/>
            <a:ext cx="507019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 a porté quoi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8560" y="3284224"/>
          <a:ext cx="4912360" cy="1070610"/>
        </p:xfrm>
        <a:graphic>
          <a:graphicData uri="http://schemas.openxmlformats.org/drawingml/2006/table">
            <a:tbl>
              <a:tblPr/>
              <a:tblGrid>
                <a:gridCol w="1964944"/>
                <a:gridCol w="1964944"/>
                <a:gridCol w="982472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Membre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porté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Commits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[Prénom]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[N]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[Prénom]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[N]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DIFFICULTÉS · TIRÉES DE NOTRE JOURNAL DE BORD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problèmes réels, et comment nous les avons résolus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44424"/>
          <a:ext cx="10556240" cy="1534160"/>
        </p:xfrm>
        <a:graphic>
          <a:graphicData uri="http://schemas.openxmlformats.org/drawingml/2006/table">
            <a:tbl>
              <a:tblPr/>
              <a:tblGrid>
                <a:gridCol w="3166872"/>
                <a:gridCol w="3694684"/>
                <a:gridCol w="3694684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 problème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Comment nous l’avons trouvé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EF2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 solution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A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[…]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 · Source : JOURNAL.md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1F6FA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AU-DELÀ DU SOCLE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nous avons ajouté, et ce qui manque encore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0075"/>
            <a:ext cx="5124450" cy="3968750"/>
          </a:xfrm>
          <a:prstGeom prst="roundRect">
            <a:avLst>
              <a:gd name="adj" fmla="val 1840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100579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Extensions réalisées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6480" y="2486664"/>
            <a:ext cx="4803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1575" y="1870075"/>
            <a:ext cx="5124450" cy="3968750"/>
          </a:xfrm>
          <a:prstGeom prst="roundRect">
            <a:avLst>
              <a:gd name="adj" fmla="val 1840"/>
            </a:avLst>
          </a:prstGeom>
          <a:solidFill>
            <a:srgbClr val="FFFFFF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2080" y="2100579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Limites connues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82080" y="2486664"/>
            <a:ext cx="4803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82080" y="2862579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Avec plus de temps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82080" y="3248664"/>
            <a:ext cx="4803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4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[…]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EmbedGate · Groupe [N]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7FC4E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BILAN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E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chacun de nous retient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400"/>
            <a:ext cx="518160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20900"/>
            <a:ext cx="53370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[Prénom]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506979"/>
            <a:ext cx="533704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i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 […] 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930400"/>
            <a:ext cx="518160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7600" y="2120900"/>
            <a:ext cx="53370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[Prénom]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7600" y="2506979"/>
            <a:ext cx="533704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i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 […] 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5415279"/>
            <a:ext cx="375046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EF2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Merci. Vos questions 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30437" y="5346700"/>
            <a:ext cx="244876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CCAD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Dépôt : [adresse GitLab]</a:t>
            </a:r>
            <a:endParaRPr lang="en-US" sz="1300" dirty="0"/>
          </a:p>
          <a:p>
            <a:pPr algn="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CCAD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Tag : v1.0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2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/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dGate – Soutenance (modèle vide)">
  <a:themeElements>
    <a:clrScheme name="EmbedGate – Soutenance (modèle vide)">
      <a:dk1>
        <a:srgbClr val="B04A12"/>
      </a:dk1>
      <a:lt1>
        <a:srgbClr val="F5F6F2"/>
      </a:lt1>
      <a:dk2>
        <a:srgbClr val="C1754A"/>
      </a:dk2>
      <a:lt2>
        <a:srgbClr val="EEE5DC"/>
      </a:lt2>
      <a:accent1>
        <a:srgbClr val="1F6FA8"/>
      </a:accent1>
      <a:accent2>
        <a:srgbClr val="13233A"/>
      </a:accent2>
      <a:accent3>
        <a:srgbClr val="F2A65A"/>
      </a:accent3>
      <a:accent4>
        <a:srgbClr val="7FC4E8"/>
      </a:accent4>
      <a:accent5>
        <a:srgbClr val="6B7A88"/>
      </a:accent5>
      <a:accent6>
        <a:srgbClr val="2B3A4A"/>
      </a:accent6>
      <a:hlink>
        <a:srgbClr val="0563C1"/>
      </a:hlink>
      <a:folHlink>
        <a:srgbClr val="954F72"/>
      </a:folHlink>
    </a:clrScheme>
    <a:fontScheme name="EmbedGate – Soutenance (modèle vide)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EmbedGate – Soutenance (modèle vide)</dc:title>
  <dc:subject/>
  <dc:creator/>
  <cp:lastModifiedBy/>
  <cp:revision>1</cp:revision>
  <dcterms:created xsi:type="dcterms:W3CDTF">2026-10-22T10:21:31Z</dcterms:created>
  <dcterms:modified xsi:type="dcterms:W3CDTF">2026-10-22T10:21:31Z</dcterms:modified>
</cp:coreProperties>
</file>